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566928"/>
            <a:ext cx="11448288" cy="914400"/>
          </a:xfrm>
          <a:prstGeom prst="rect">
            <a:avLst/>
          </a:prstGeom>
          <a:solidFill>
            <a:srgbClr val="F7F8F9"/>
          </a:solidFill>
          <a:ln w="10160">
            <a:solidFill>
              <a:srgbClr val="C9D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/>
            <a:r>
              <a:rPr sz="100" b="0">
                <a:solidFill>
                  <a:srgbClr val="222222"/>
                </a:solidFill>
                <a:latin typeface="SimSun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384048" y="566928"/>
            <a:ext cx="82296" cy="914400"/>
          </a:xfrm>
          <a:prstGeom prst="rect">
            <a:avLst/>
          </a:prstGeom>
          <a:solidFill>
            <a:srgbClr val="2F5F8F"/>
          </a:solidFill>
          <a:ln>
            <a:solidFill>
              <a:srgbClr val="2F5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481328" cy="274320"/>
          </a:xfrm>
          <a:prstGeom prst="rect">
            <a:avLst/>
          </a:prstGeom>
          <a:noFill/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1050" b="1">
                <a:solidFill>
                  <a:srgbClr val="222222"/>
                </a:solidFill>
                <a:latin typeface="SimSun"/>
              </a:rPr>
              <a:t>1. 数据来源层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60704"/>
            <a:ext cx="1481328" cy="228600"/>
          </a:xfrm>
          <a:prstGeom prst="rect">
            <a:avLst/>
          </a:prstGeom>
          <a:noFill/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SimSun"/>
              </a:rPr>
              <a:t>Data source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212848" y="685800"/>
            <a:ext cx="9144" cy="676656"/>
          </a:xfrm>
          <a:prstGeom prst="rect">
            <a:avLst/>
          </a:prstGeom>
          <a:solidFill>
            <a:srgbClr val="D8DEE2"/>
          </a:solidFill>
          <a:ln>
            <a:solidFill>
              <a:srgbClr val="D8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4048" y="1700784"/>
            <a:ext cx="11448288" cy="914400"/>
          </a:xfrm>
          <a:prstGeom prst="rect">
            <a:avLst/>
          </a:prstGeom>
          <a:solidFill>
            <a:srgbClr val="F7F8F9"/>
          </a:solidFill>
          <a:ln w="10160">
            <a:solidFill>
              <a:srgbClr val="C9D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/>
            <a:r>
              <a:rPr sz="100" b="0">
                <a:solidFill>
                  <a:srgbClr val="222222"/>
                </a:solidFill>
                <a:latin typeface="SimSun"/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700784"/>
            <a:ext cx="82296" cy="914400"/>
          </a:xfrm>
          <a:prstGeom prst="rect">
            <a:avLst/>
          </a:prstGeom>
          <a:solidFill>
            <a:srgbClr val="4F7F52"/>
          </a:solidFill>
          <a:ln>
            <a:solidFill>
              <a:srgbClr val="4F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865376"/>
            <a:ext cx="1481328" cy="274320"/>
          </a:xfrm>
          <a:prstGeom prst="rect">
            <a:avLst/>
          </a:prstGeom>
          <a:noFill/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1050" b="1">
                <a:solidFill>
                  <a:srgbClr val="222222"/>
                </a:solidFill>
                <a:latin typeface="SimSun"/>
              </a:rPr>
              <a:t>2. 数据分类层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1481328" cy="228600"/>
          </a:xfrm>
          <a:prstGeom prst="rect">
            <a:avLst/>
          </a:prstGeom>
          <a:noFill/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SimSun"/>
              </a:rPr>
              <a:t>Classification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12848" y="1819656"/>
            <a:ext cx="9144" cy="676656"/>
          </a:xfrm>
          <a:prstGeom prst="rect">
            <a:avLst/>
          </a:prstGeom>
          <a:solidFill>
            <a:srgbClr val="D8DEE2"/>
          </a:solidFill>
          <a:ln>
            <a:solidFill>
              <a:srgbClr val="D8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048" y="2834640"/>
            <a:ext cx="11448288" cy="1115568"/>
          </a:xfrm>
          <a:prstGeom prst="rect">
            <a:avLst/>
          </a:prstGeom>
          <a:solidFill>
            <a:srgbClr val="F7F8F9"/>
          </a:solidFill>
          <a:ln w="10160">
            <a:solidFill>
              <a:srgbClr val="C9D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/>
            <a:r>
              <a:rPr sz="100" b="0">
                <a:solidFill>
                  <a:srgbClr val="222222"/>
                </a:solidFill>
                <a:latin typeface="SimSun"/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2834640"/>
            <a:ext cx="82296" cy="1115568"/>
          </a:xfrm>
          <a:prstGeom prst="rect">
            <a:avLst/>
          </a:prstGeom>
          <a:solidFill>
            <a:srgbClr val="4F8E8A"/>
          </a:solidFill>
          <a:ln>
            <a:solidFill>
              <a:srgbClr val="4F8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999232"/>
            <a:ext cx="1481328" cy="274320"/>
          </a:xfrm>
          <a:prstGeom prst="rect">
            <a:avLst/>
          </a:prstGeom>
          <a:noFill/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1050" b="1">
                <a:solidFill>
                  <a:srgbClr val="222222"/>
                </a:solidFill>
                <a:latin typeface="SimSun"/>
              </a:rPr>
              <a:t>3. 空间处理层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328416"/>
            <a:ext cx="1481328" cy="228600"/>
          </a:xfrm>
          <a:prstGeom prst="rect">
            <a:avLst/>
          </a:prstGeom>
          <a:noFill/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SimSun"/>
              </a:rPr>
              <a:t>Spatial processing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12848" y="2953512"/>
            <a:ext cx="9144" cy="877824"/>
          </a:xfrm>
          <a:prstGeom prst="rect">
            <a:avLst/>
          </a:prstGeom>
          <a:solidFill>
            <a:srgbClr val="D8DEE2"/>
          </a:solidFill>
          <a:ln>
            <a:solidFill>
              <a:srgbClr val="D8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4048" y="4160520"/>
            <a:ext cx="11448288" cy="914400"/>
          </a:xfrm>
          <a:prstGeom prst="rect">
            <a:avLst/>
          </a:prstGeom>
          <a:solidFill>
            <a:srgbClr val="F7F8F9"/>
          </a:solidFill>
          <a:ln w="10160">
            <a:solidFill>
              <a:srgbClr val="C9D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/>
            <a:r>
              <a:rPr sz="100" b="0">
                <a:solidFill>
                  <a:srgbClr val="222222"/>
                </a:solidFill>
                <a:latin typeface="SimSun"/>
              </a:rPr>
              <a:t/>
            </a:r>
          </a:p>
        </p:txBody>
      </p:sp>
      <p:sp>
        <p:nvSpPr>
          <p:cNvPr id="18" name="Rectangle 17"/>
          <p:cNvSpPr/>
          <p:nvPr/>
        </p:nvSpPr>
        <p:spPr>
          <a:xfrm>
            <a:off x="384048" y="4160520"/>
            <a:ext cx="82296" cy="914400"/>
          </a:xfrm>
          <a:prstGeom prst="rect">
            <a:avLst/>
          </a:prstGeom>
          <a:solidFill>
            <a:srgbClr val="B96B21"/>
          </a:solidFill>
          <a:ln>
            <a:solidFill>
              <a:srgbClr val="B96B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325112"/>
            <a:ext cx="1481328" cy="274320"/>
          </a:xfrm>
          <a:prstGeom prst="rect">
            <a:avLst/>
          </a:prstGeom>
          <a:noFill/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1050" b="1">
                <a:solidFill>
                  <a:srgbClr val="222222"/>
                </a:solidFill>
                <a:latin typeface="SimSun"/>
              </a:rPr>
              <a:t>4. 图层输出层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654296"/>
            <a:ext cx="1481328" cy="228600"/>
          </a:xfrm>
          <a:prstGeom prst="rect">
            <a:avLst/>
          </a:prstGeom>
          <a:noFill/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SimSun"/>
              </a:rPr>
              <a:t>Layer output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12848" y="4279392"/>
            <a:ext cx="9144" cy="676656"/>
          </a:xfrm>
          <a:prstGeom prst="rect">
            <a:avLst/>
          </a:prstGeom>
          <a:solidFill>
            <a:srgbClr val="D8DEE2"/>
          </a:solidFill>
          <a:ln>
            <a:solidFill>
              <a:srgbClr val="D8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84048" y="5303520"/>
            <a:ext cx="11448288" cy="914400"/>
          </a:xfrm>
          <a:prstGeom prst="rect">
            <a:avLst/>
          </a:prstGeom>
          <a:solidFill>
            <a:srgbClr val="F7F8F9"/>
          </a:solidFill>
          <a:ln w="10160">
            <a:solidFill>
              <a:srgbClr val="C9D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/>
            <a:r>
              <a:rPr sz="100" b="0">
                <a:solidFill>
                  <a:srgbClr val="222222"/>
                </a:solidFill>
                <a:latin typeface="SimSun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384048" y="5303520"/>
            <a:ext cx="82296" cy="914400"/>
          </a:xfrm>
          <a:prstGeom prst="rect">
            <a:avLst/>
          </a:prstGeom>
          <a:solidFill>
            <a:srgbClr val="A74B4B"/>
          </a:solidFill>
          <a:ln>
            <a:solidFill>
              <a:srgbClr val="A7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468112"/>
            <a:ext cx="1481328" cy="274320"/>
          </a:xfrm>
          <a:prstGeom prst="rect">
            <a:avLst/>
          </a:prstGeom>
          <a:noFill/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1050" b="1">
                <a:solidFill>
                  <a:srgbClr val="222222"/>
                </a:solidFill>
                <a:latin typeface="SimSun"/>
              </a:rPr>
              <a:t>5. 规划应用层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797296"/>
            <a:ext cx="1481328" cy="228600"/>
          </a:xfrm>
          <a:prstGeom prst="rect">
            <a:avLst/>
          </a:prstGeom>
          <a:noFill/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SimSun"/>
              </a:rPr>
              <a:t>Planning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12848" y="5422392"/>
            <a:ext cx="9144" cy="676656"/>
          </a:xfrm>
          <a:prstGeom prst="rect">
            <a:avLst/>
          </a:prstGeom>
          <a:solidFill>
            <a:srgbClr val="D8DEE2"/>
          </a:solidFill>
          <a:ln>
            <a:solidFill>
              <a:srgbClr val="D8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487168" y="832104"/>
            <a:ext cx="1554480" cy="365760"/>
          </a:xfrm>
          <a:prstGeom prst="rect">
            <a:avLst/>
          </a:prstGeom>
          <a:solidFill>
            <a:srgbClr val="FFFFFF"/>
          </a:solidFill>
          <a:ln w="10160">
            <a:solidFill>
              <a:srgbClr val="2F5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/>
            <a:r>
              <a:rPr sz="850" b="0">
                <a:solidFill>
                  <a:srgbClr val="222222"/>
                </a:solidFill>
                <a:latin typeface="SimSun"/>
              </a:rPr>
              <a:t>矿井地质资料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70248" y="832104"/>
            <a:ext cx="1554480" cy="365760"/>
          </a:xfrm>
          <a:prstGeom prst="rect">
            <a:avLst/>
          </a:prstGeom>
          <a:solidFill>
            <a:srgbClr val="FFFFFF"/>
          </a:solidFill>
          <a:ln w="10160">
            <a:solidFill>
              <a:srgbClr val="2F5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/>
            <a:r>
              <a:rPr sz="850" b="0">
                <a:solidFill>
                  <a:srgbClr val="222222"/>
                </a:solidFill>
                <a:latin typeface="SimSun"/>
              </a:rPr>
              <a:t>采区设计图件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53328" y="832104"/>
            <a:ext cx="1554480" cy="365760"/>
          </a:xfrm>
          <a:prstGeom prst="rect">
            <a:avLst/>
          </a:prstGeom>
          <a:solidFill>
            <a:srgbClr val="FFFFFF"/>
          </a:solidFill>
          <a:ln w="10160">
            <a:solidFill>
              <a:srgbClr val="2F5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/>
            <a:r>
              <a:rPr sz="850" b="0">
                <a:solidFill>
                  <a:srgbClr val="222222"/>
                </a:solidFill>
                <a:latin typeface="SimSun"/>
              </a:rPr>
              <a:t>钻孔资料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36408" y="832104"/>
            <a:ext cx="1554480" cy="365760"/>
          </a:xfrm>
          <a:prstGeom prst="rect">
            <a:avLst/>
          </a:prstGeom>
          <a:solidFill>
            <a:srgbClr val="FFFFFF"/>
          </a:solidFill>
          <a:ln w="10160">
            <a:solidFill>
              <a:srgbClr val="2F5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/>
            <a:r>
              <a:rPr sz="850" b="0">
                <a:solidFill>
                  <a:srgbClr val="222222"/>
                </a:solidFill>
                <a:latin typeface="SimSun"/>
              </a:rPr>
              <a:t>覆岩扰动
评价结果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19488" y="832104"/>
            <a:ext cx="1554480" cy="365760"/>
          </a:xfrm>
          <a:prstGeom prst="rect">
            <a:avLst/>
          </a:prstGeom>
          <a:solidFill>
            <a:srgbClr val="FFFFFF"/>
          </a:solidFill>
          <a:ln w="10160">
            <a:solidFill>
              <a:srgbClr val="2F5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/>
            <a:r>
              <a:rPr sz="850" b="0">
                <a:solidFill>
                  <a:srgbClr val="222222"/>
                </a:solidFill>
                <a:latin typeface="SimSun"/>
              </a:rPr>
              <a:t>工作面规划参数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88336" y="1984248"/>
            <a:ext cx="1783080" cy="365760"/>
          </a:xfrm>
          <a:prstGeom prst="rect">
            <a:avLst/>
          </a:prstGeom>
          <a:solidFill>
            <a:srgbClr val="FFFFFF"/>
          </a:solidFill>
          <a:ln w="10160">
            <a:solidFill>
              <a:srgbClr val="4F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/>
            <a:r>
              <a:rPr sz="900" b="0">
                <a:solidFill>
                  <a:srgbClr val="222222"/>
                </a:solidFill>
                <a:latin typeface="SimSun"/>
              </a:rPr>
              <a:t>基础地质数据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09744" y="1984248"/>
            <a:ext cx="1783080" cy="365760"/>
          </a:xfrm>
          <a:prstGeom prst="rect">
            <a:avLst/>
          </a:prstGeom>
          <a:solidFill>
            <a:srgbClr val="FFFFFF"/>
          </a:solidFill>
          <a:ln w="10160">
            <a:solidFill>
              <a:srgbClr val="4F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/>
            <a:r>
              <a:rPr sz="900" b="0">
                <a:solidFill>
                  <a:srgbClr val="222222"/>
                </a:solidFill>
                <a:latin typeface="SimSun"/>
              </a:rPr>
              <a:t>工程约束数据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31152" y="1984248"/>
            <a:ext cx="1783080" cy="365760"/>
          </a:xfrm>
          <a:prstGeom prst="rect">
            <a:avLst/>
          </a:prstGeom>
          <a:solidFill>
            <a:srgbClr val="FFFFFF"/>
          </a:solidFill>
          <a:ln w="10160">
            <a:solidFill>
              <a:srgbClr val="4F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/>
            <a:r>
              <a:rPr sz="900" b="0">
                <a:solidFill>
                  <a:srgbClr val="222222"/>
                </a:solidFill>
                <a:latin typeface="SimSun"/>
              </a:rPr>
              <a:t>覆岩扰动数据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52559" y="1984248"/>
            <a:ext cx="1783080" cy="365760"/>
          </a:xfrm>
          <a:prstGeom prst="rect">
            <a:avLst/>
          </a:prstGeom>
          <a:solidFill>
            <a:srgbClr val="FFFFFF"/>
          </a:solidFill>
          <a:ln w="10160">
            <a:solidFill>
              <a:srgbClr val="4F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/>
            <a:r>
              <a:rPr sz="900" b="0">
                <a:solidFill>
                  <a:srgbClr val="222222"/>
                </a:solidFill>
                <a:latin typeface="SimSun"/>
              </a:rPr>
              <a:t>规划参数数据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487168" y="3200400"/>
            <a:ext cx="11155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4F8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/>
            <a:r>
              <a:rPr sz="850" b="0">
                <a:solidFill>
                  <a:srgbClr val="222222"/>
                </a:solidFill>
                <a:latin typeface="SimSun"/>
              </a:rPr>
              <a:t>坐标统一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3602736" y="3374136"/>
            <a:ext cx="210312" cy="0"/>
          </a:xfrm>
          <a:prstGeom prst="line">
            <a:avLst/>
          </a:prstGeom>
          <a:ln w="10160">
            <a:solidFill>
              <a:srgbClr val="4F8E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3858768" y="3200400"/>
            <a:ext cx="11155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4F8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/>
            <a:r>
              <a:rPr sz="850" b="0">
                <a:solidFill>
                  <a:srgbClr val="222222"/>
                </a:solidFill>
                <a:latin typeface="SimSun"/>
              </a:rPr>
              <a:t>格式转换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4974336" y="3374136"/>
            <a:ext cx="210312" cy="0"/>
          </a:xfrm>
          <a:prstGeom prst="line">
            <a:avLst/>
          </a:prstGeom>
          <a:ln w="10160">
            <a:solidFill>
              <a:srgbClr val="4F8E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5230368" y="3200400"/>
            <a:ext cx="11155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4F8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/>
            <a:r>
              <a:rPr sz="850" b="0">
                <a:solidFill>
                  <a:srgbClr val="222222"/>
                </a:solidFill>
                <a:latin typeface="SimSun"/>
              </a:rPr>
              <a:t>边界裁剪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345936" y="3374136"/>
            <a:ext cx="210312" cy="0"/>
          </a:xfrm>
          <a:prstGeom prst="line">
            <a:avLst/>
          </a:prstGeom>
          <a:ln w="10160">
            <a:solidFill>
              <a:srgbClr val="4F8E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6601968" y="3200400"/>
            <a:ext cx="11155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4F8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/>
            <a:r>
              <a:rPr sz="850" b="0">
                <a:solidFill>
                  <a:srgbClr val="222222"/>
                </a:solidFill>
                <a:latin typeface="SimSun"/>
              </a:rPr>
              <a:t>插值计算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7717536" y="3374136"/>
            <a:ext cx="210312" cy="0"/>
          </a:xfrm>
          <a:prstGeom prst="line">
            <a:avLst/>
          </a:prstGeom>
          <a:ln w="10160">
            <a:solidFill>
              <a:srgbClr val="4F8E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7973568" y="3200400"/>
            <a:ext cx="11155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4F8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/>
            <a:r>
              <a:rPr sz="850" b="0">
                <a:solidFill>
                  <a:srgbClr val="222222"/>
                </a:solidFill>
                <a:latin typeface="SimSun"/>
              </a:rPr>
              <a:t>指标归一化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9089136" y="3374136"/>
            <a:ext cx="210312" cy="0"/>
          </a:xfrm>
          <a:prstGeom prst="line">
            <a:avLst/>
          </a:prstGeom>
          <a:ln w="10160">
            <a:solidFill>
              <a:srgbClr val="4F8E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9345168" y="3200400"/>
            <a:ext cx="11155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4F8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/>
            <a:r>
              <a:rPr sz="850" b="0">
                <a:solidFill>
                  <a:srgbClr val="222222"/>
                </a:solidFill>
                <a:latin typeface="SimSun"/>
              </a:rPr>
              <a:t>图层叠加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487168" y="3584448"/>
            <a:ext cx="6217920" cy="237744"/>
          </a:xfrm>
          <a:prstGeom prst="rect">
            <a:avLst/>
          </a:prstGeom>
          <a:noFill/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SimSun"/>
              </a:rPr>
              <a:t>统一空间参考、数据尺度与指标量纲，形成可叠加的空间分析基础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688336" y="4443984"/>
            <a:ext cx="1783080" cy="365760"/>
          </a:xfrm>
          <a:prstGeom prst="rect">
            <a:avLst/>
          </a:prstGeom>
          <a:solidFill>
            <a:srgbClr val="FFFFFF"/>
          </a:solidFill>
          <a:ln w="10160">
            <a:solidFill>
              <a:srgbClr val="B96B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/>
            <a:r>
              <a:rPr sz="900" b="0">
                <a:solidFill>
                  <a:srgbClr val="222222"/>
                </a:solidFill>
                <a:latin typeface="SimSun"/>
              </a:rPr>
              <a:t>有效布置域图层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809744" y="4443984"/>
            <a:ext cx="1783080" cy="365760"/>
          </a:xfrm>
          <a:prstGeom prst="rect">
            <a:avLst/>
          </a:prstGeom>
          <a:solidFill>
            <a:srgbClr val="FFFFFF"/>
          </a:solidFill>
          <a:ln w="10160">
            <a:solidFill>
              <a:srgbClr val="B96B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/>
            <a:r>
              <a:rPr sz="900" b="0">
                <a:solidFill>
                  <a:srgbClr val="222222"/>
                </a:solidFill>
                <a:latin typeface="SimSun"/>
              </a:rPr>
              <a:t>煤厚资源图层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931152" y="4443984"/>
            <a:ext cx="1783080" cy="365760"/>
          </a:xfrm>
          <a:prstGeom prst="rect">
            <a:avLst/>
          </a:prstGeom>
          <a:solidFill>
            <a:srgbClr val="FFFFFF"/>
          </a:solidFill>
          <a:ln w="10160">
            <a:solidFill>
              <a:srgbClr val="A84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/>
            <a:r>
              <a:rPr sz="900" b="1">
                <a:solidFill>
                  <a:srgbClr val="222222"/>
                </a:solidFill>
                <a:latin typeface="SimSun"/>
              </a:rPr>
              <a:t>ODI扰动图层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52559" y="4443984"/>
            <a:ext cx="1783080" cy="365760"/>
          </a:xfrm>
          <a:prstGeom prst="rect">
            <a:avLst/>
          </a:prstGeom>
          <a:solidFill>
            <a:srgbClr val="FFFFFF"/>
          </a:solidFill>
          <a:ln w="10160">
            <a:solidFill>
              <a:srgbClr val="B96B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/>
            <a:r>
              <a:rPr sz="900" b="0">
                <a:solidFill>
                  <a:srgbClr val="222222"/>
                </a:solidFill>
                <a:latin typeface="SimSun"/>
              </a:rPr>
              <a:t>候选方案图层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688336" y="5577840"/>
            <a:ext cx="1783080" cy="365760"/>
          </a:xfrm>
          <a:prstGeom prst="rect">
            <a:avLst/>
          </a:prstGeom>
          <a:solidFill>
            <a:srgbClr val="FFFFFF"/>
          </a:solidFill>
          <a:ln w="10160">
            <a:solidFill>
              <a:srgbClr val="A7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/>
            <a:r>
              <a:rPr sz="919" b="1">
                <a:solidFill>
                  <a:srgbClr val="222222"/>
                </a:solidFill>
                <a:latin typeface="SimSun"/>
              </a:rPr>
              <a:t>方案生成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809744" y="5577840"/>
            <a:ext cx="1783080" cy="365760"/>
          </a:xfrm>
          <a:prstGeom prst="rect">
            <a:avLst/>
          </a:prstGeom>
          <a:solidFill>
            <a:srgbClr val="FFFFFF"/>
          </a:solidFill>
          <a:ln w="10160">
            <a:solidFill>
              <a:srgbClr val="A7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/>
            <a:r>
              <a:rPr sz="919" b="1">
                <a:solidFill>
                  <a:srgbClr val="222222"/>
                </a:solidFill>
                <a:latin typeface="SimSun"/>
              </a:rPr>
              <a:t>约束筛选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931152" y="5577840"/>
            <a:ext cx="1783080" cy="365760"/>
          </a:xfrm>
          <a:prstGeom prst="rect">
            <a:avLst/>
          </a:prstGeom>
          <a:solidFill>
            <a:srgbClr val="FFFFFF"/>
          </a:solidFill>
          <a:ln w="10160">
            <a:solidFill>
              <a:srgbClr val="A7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/>
            <a:r>
              <a:rPr sz="919" b="1">
                <a:solidFill>
                  <a:srgbClr val="222222"/>
                </a:solidFill>
                <a:latin typeface="SimSun"/>
              </a:rPr>
              <a:t>指标统计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052559" y="5577840"/>
            <a:ext cx="1783080" cy="365760"/>
          </a:xfrm>
          <a:prstGeom prst="rect">
            <a:avLst/>
          </a:prstGeom>
          <a:solidFill>
            <a:srgbClr val="FFFFFF"/>
          </a:solidFill>
          <a:ln w="10160">
            <a:solidFill>
              <a:srgbClr val="A7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/>
            <a:r>
              <a:rPr sz="919" b="1">
                <a:solidFill>
                  <a:srgbClr val="222222"/>
                </a:solidFill>
                <a:latin typeface="SimSun"/>
              </a:rPr>
              <a:t>方案比选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6492240" y="1481328"/>
            <a:ext cx="0" cy="219456"/>
          </a:xfrm>
          <a:prstGeom prst="line">
            <a:avLst/>
          </a:prstGeom>
          <a:ln w="10160">
            <a:solidFill>
              <a:srgbClr val="8A9A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6492240" y="2615184"/>
            <a:ext cx="0" cy="219456"/>
          </a:xfrm>
          <a:prstGeom prst="line">
            <a:avLst/>
          </a:prstGeom>
          <a:ln w="10160">
            <a:solidFill>
              <a:srgbClr val="8A9A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6492240" y="3950208"/>
            <a:ext cx="0" cy="210312"/>
          </a:xfrm>
          <a:prstGeom prst="line">
            <a:avLst/>
          </a:prstGeom>
          <a:ln w="10160">
            <a:solidFill>
              <a:srgbClr val="8A9A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6492240" y="5074920"/>
            <a:ext cx="0" cy="228600"/>
          </a:xfrm>
          <a:prstGeom prst="line">
            <a:avLst/>
          </a:prstGeom>
          <a:ln w="10160">
            <a:solidFill>
              <a:srgbClr val="8A9A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8229600" y="6327648"/>
            <a:ext cx="3401568" cy="219456"/>
          </a:xfrm>
          <a:prstGeom prst="rect">
            <a:avLst/>
          </a:prstGeom>
          <a:noFill/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750" b="0">
                <a:solidFill>
                  <a:srgbClr val="666666"/>
                </a:solidFill>
                <a:latin typeface="SimSun"/>
              </a:rPr>
              <a:t>ODI: overburden disturbance index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