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5833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25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>
            <a:extLst>
              <a:ext uri="{FF2B5EF4-FFF2-40B4-BE49-F238E27FC236}">
                <a16:creationId xmlns:a16="http://schemas.microsoft.com/office/drawing/2014/main" id="{E4287773-6753-27C4-4D69-C72FB849B4D0}"/>
              </a:ext>
            </a:extLst>
          </p:cNvPr>
          <p:cNvGrpSpPr/>
          <p:nvPr/>
        </p:nvGrpSpPr>
        <p:grpSpPr>
          <a:xfrm>
            <a:off x="228600" y="261197"/>
            <a:ext cx="6142318" cy="5364542"/>
            <a:chOff x="228600" y="261197"/>
            <a:chExt cx="6142318" cy="5364542"/>
          </a:xfrm>
        </p:grpSpPr>
        <p:sp>
          <p:nvSpPr>
            <p:cNvPr id="9" name="TextBox 8"/>
            <p:cNvSpPr txBox="1"/>
            <p:nvPr/>
          </p:nvSpPr>
          <p:spPr>
            <a:xfrm>
              <a:off x="2652840" y="4478129"/>
              <a:ext cx="1306512" cy="187744"/>
            </a:xfrm>
            <a:prstGeom prst="rect">
              <a:avLst/>
            </a:prstGeom>
            <a:noFill/>
          </p:spPr>
          <p:txBody>
            <a:bodyPr wrap="none" lIns="18288" tIns="9144" rIns="18288" bIns="9144" anchor="ctr">
              <a:spAutoFit/>
            </a:bodyPr>
            <a:lstStyle/>
            <a:p>
              <a:pPr algn="ctr"/>
              <a:r>
                <a:rPr sz="1100" b="0" dirty="0" err="1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规划应用与决策输出</a:t>
              </a:r>
              <a:endParaRPr sz="1100" b="0" dirty="0">
                <a:solidFill>
                  <a:srgbClr val="1F29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" name="Connector 9"/>
            <p:cNvCxnSpPr>
              <a:cxnSpLocks/>
            </p:cNvCxnSpPr>
            <p:nvPr/>
          </p:nvCxnSpPr>
          <p:spPr>
            <a:xfrm flipH="1">
              <a:off x="3291681" y="1325880"/>
              <a:ext cx="159" cy="198120"/>
            </a:xfrm>
            <a:prstGeom prst="line">
              <a:avLst/>
            </a:prstGeom>
            <a:ln w="12700">
              <a:solidFill>
                <a:srgbClr val="7F8A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297141" y="4220685"/>
              <a:ext cx="0" cy="283464"/>
            </a:xfrm>
            <a:prstGeom prst="line">
              <a:avLst/>
            </a:prstGeom>
            <a:ln w="12700">
              <a:solidFill>
                <a:srgbClr val="7F8A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63E8F9B5-DDDF-D41C-F752-8BDBC8C973F1}"/>
                </a:ext>
              </a:extLst>
            </p:cNvPr>
            <p:cNvGrpSpPr/>
            <p:nvPr/>
          </p:nvGrpSpPr>
          <p:grpSpPr>
            <a:xfrm>
              <a:off x="228600" y="261197"/>
              <a:ext cx="6126480" cy="1064683"/>
              <a:chOff x="228600" y="261197"/>
              <a:chExt cx="6126480" cy="1064683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228600" y="488270"/>
                <a:ext cx="6126480" cy="837610"/>
              </a:xfrm>
              <a:prstGeom prst="rect">
                <a:avLst/>
              </a:prstGeom>
              <a:solidFill>
                <a:srgbClr val="FCFDFE"/>
              </a:solidFill>
              <a:ln w="12700">
                <a:solidFill>
                  <a:srgbClr val="315F8C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endParaRPr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" name="TextBox 2"/>
              <p:cNvSpPr txBox="1"/>
              <p:nvPr/>
            </p:nvSpPr>
            <p:spPr>
              <a:xfrm>
                <a:off x="2825367" y="261197"/>
                <a:ext cx="1024383" cy="187744"/>
              </a:xfrm>
              <a:prstGeom prst="rect">
                <a:avLst/>
              </a:prstGeom>
              <a:noFill/>
            </p:spPr>
            <p:txBody>
              <a:bodyPr wrap="none" lIns="18288" tIns="9144" rIns="18288" bIns="9144" anchor="ctr">
                <a:spAutoFit/>
              </a:bodyPr>
              <a:lstStyle/>
              <a:p>
                <a:pPr algn="ctr"/>
                <a:r>
                  <a:rPr lang="zh-CN" altLang="en-US" sz="1100" b="0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数据来源与分类</a:t>
                </a:r>
                <a:endParaRPr sz="11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393192" y="566928"/>
                <a:ext cx="1060704" cy="201168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rgbClr val="315F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lang="zh-CN" altLang="en-US" sz="1000" b="0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矿井地质资料</a:t>
                </a:r>
                <a:endParaRPr sz="10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1645920" y="566928"/>
                <a:ext cx="1060704" cy="201168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rgbClr val="315F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lang="zh-CN" altLang="en-US" sz="1000" b="0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钻孔资料</a:t>
                </a:r>
                <a:endParaRPr sz="10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2898648" y="566928"/>
                <a:ext cx="1060704" cy="201168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rgbClr val="315F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lang="zh-CN" altLang="en-US" sz="1000" b="0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采区设计图件</a:t>
                </a:r>
                <a:endParaRPr sz="10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151376" y="566928"/>
                <a:ext cx="1060704" cy="201168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rgbClr val="315F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lang="zh-CN" altLang="en-US" sz="1000" b="0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扰动评价结果</a:t>
                </a:r>
                <a:endParaRPr sz="10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7" name="Picture 16" descr="boundary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0352" y="813816"/>
                <a:ext cx="786384" cy="448056"/>
              </a:xfrm>
              <a:prstGeom prst="rect">
                <a:avLst/>
              </a:prstGeom>
            </p:spPr>
          </p:pic>
          <p:pic>
            <p:nvPicPr>
              <p:cNvPr id="18" name="Picture 17" descr="lithology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37360" y="813816"/>
                <a:ext cx="841248" cy="448056"/>
              </a:xfrm>
              <a:prstGeom prst="rect">
                <a:avLst/>
              </a:prstGeom>
            </p:spPr>
          </p:pic>
          <p:pic>
            <p:nvPicPr>
              <p:cNvPr id="19" name="Picture 18" descr="param_fiel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54096" y="813816"/>
                <a:ext cx="731520" cy="448056"/>
              </a:xfrm>
              <a:prstGeom prst="rect">
                <a:avLst/>
              </a:prstGeom>
            </p:spPr>
          </p:pic>
          <p:pic>
            <p:nvPicPr>
              <p:cNvPr id="20" name="Picture 19" descr="odi_field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51960" y="813816"/>
                <a:ext cx="731520" cy="448056"/>
              </a:xfrm>
              <a:prstGeom prst="rect">
                <a:avLst/>
              </a:prstGeom>
            </p:spPr>
          </p:pic>
          <p:cxnSp>
            <p:nvCxnSpPr>
              <p:cNvPr id="21" name="Connector 20"/>
              <p:cNvCxnSpPr/>
              <p:nvPr/>
            </p:nvCxnSpPr>
            <p:spPr>
              <a:xfrm>
                <a:off x="5029200" y="1024128"/>
                <a:ext cx="228600" cy="0"/>
              </a:xfrm>
              <a:prstGeom prst="line">
                <a:avLst/>
              </a:prstGeom>
              <a:ln w="12700">
                <a:solidFill>
                  <a:srgbClr val="315F8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Rectangle 21"/>
              <p:cNvSpPr/>
              <p:nvPr/>
            </p:nvSpPr>
            <p:spPr>
              <a:xfrm>
                <a:off x="5285232" y="786384"/>
                <a:ext cx="475488" cy="182880"/>
              </a:xfrm>
              <a:prstGeom prst="rect">
                <a:avLst/>
              </a:prstGeom>
              <a:solidFill>
                <a:srgbClr val="FFFFFF"/>
              </a:solidFill>
              <a:ln w="8255">
                <a:solidFill>
                  <a:srgbClr val="4F7D5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lang="zh-CN" altLang="en-US" sz="800" b="0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基础地质</a:t>
                </a:r>
                <a:endParaRPr sz="8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5852160" y="786384"/>
                <a:ext cx="475488" cy="182880"/>
              </a:xfrm>
              <a:prstGeom prst="rect">
                <a:avLst/>
              </a:prstGeom>
              <a:solidFill>
                <a:srgbClr val="FFFFFF"/>
              </a:solidFill>
              <a:ln w="8255">
                <a:solidFill>
                  <a:srgbClr val="4F7D5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lang="zh-CN" altLang="en-US" sz="800" b="0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工程约束</a:t>
                </a:r>
                <a:endParaRPr sz="8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5285232" y="1042415"/>
                <a:ext cx="475488" cy="182880"/>
              </a:xfrm>
              <a:prstGeom prst="rect">
                <a:avLst/>
              </a:prstGeom>
              <a:solidFill>
                <a:srgbClr val="FFFFFF"/>
              </a:solidFill>
              <a:ln w="8255">
                <a:solidFill>
                  <a:srgbClr val="4F7D5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lang="zh-CN" altLang="en-US" sz="800" b="0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覆岩扰动</a:t>
                </a:r>
                <a:endParaRPr sz="8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5852160" y="1042415"/>
                <a:ext cx="475488" cy="182880"/>
              </a:xfrm>
              <a:prstGeom prst="rect">
                <a:avLst/>
              </a:prstGeom>
              <a:solidFill>
                <a:srgbClr val="FFFFFF"/>
              </a:solidFill>
              <a:ln w="8255">
                <a:solidFill>
                  <a:srgbClr val="4F7D5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lang="zh-CN" altLang="en-US" sz="800" b="0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规划参数</a:t>
                </a:r>
                <a:endParaRPr sz="8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1906582D-1AD3-0DEE-56F2-7F1E52261470}"/>
                </a:ext>
              </a:extLst>
            </p:cNvPr>
            <p:cNvGrpSpPr/>
            <p:nvPr/>
          </p:nvGrpSpPr>
          <p:grpSpPr>
            <a:xfrm>
              <a:off x="234497" y="1541455"/>
              <a:ext cx="6126480" cy="1686377"/>
              <a:chOff x="234497" y="1541455"/>
              <a:chExt cx="6126480" cy="1686377"/>
            </a:xfrm>
          </p:grpSpPr>
          <p:cxnSp>
            <p:nvCxnSpPr>
              <p:cNvPr id="11" name="Connector 10"/>
              <p:cNvCxnSpPr/>
              <p:nvPr/>
            </p:nvCxnSpPr>
            <p:spPr>
              <a:xfrm>
                <a:off x="3291840" y="2962656"/>
                <a:ext cx="0" cy="265176"/>
              </a:xfrm>
              <a:prstGeom prst="line">
                <a:avLst/>
              </a:prstGeom>
              <a:ln w="12700">
                <a:solidFill>
                  <a:srgbClr val="7F8A9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Rectangle 3"/>
              <p:cNvSpPr/>
              <p:nvPr/>
            </p:nvSpPr>
            <p:spPr>
              <a:xfrm>
                <a:off x="234497" y="1755247"/>
                <a:ext cx="6126480" cy="1214413"/>
              </a:xfrm>
              <a:prstGeom prst="rect">
                <a:avLst/>
              </a:prstGeom>
              <a:solidFill>
                <a:srgbClr val="FCFDFE"/>
              </a:solidFill>
              <a:ln w="12700">
                <a:solidFill>
                  <a:srgbClr val="4D8E88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endParaRPr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2690199" y="1541455"/>
                <a:ext cx="1306512" cy="187744"/>
              </a:xfrm>
              <a:prstGeom prst="rect">
                <a:avLst/>
              </a:prstGeom>
              <a:noFill/>
            </p:spPr>
            <p:txBody>
              <a:bodyPr wrap="none" lIns="18288" tIns="9144" rIns="18288" bIns="9144" anchor="ctr">
                <a:spAutoFit/>
              </a:bodyPr>
              <a:lstStyle/>
              <a:p>
                <a:pPr algn="ctr"/>
                <a:r>
                  <a:rPr sz="1100" b="0" dirty="0" err="1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空间处理与指标构建</a:t>
                </a:r>
                <a:endParaRPr sz="11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667512" y="1812653"/>
                <a:ext cx="1490472" cy="1078992"/>
              </a:xfrm>
              <a:prstGeom prst="rect">
                <a:avLst/>
              </a:prstGeom>
              <a:solidFill>
                <a:srgbClr val="FFFFFF"/>
              </a:solidFill>
              <a:ln w="8255">
                <a:solidFill>
                  <a:srgbClr val="4D8E88"/>
                </a:solidFill>
                <a:prstDash val="sysDot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endParaRPr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1112154" y="1835747"/>
                <a:ext cx="601190" cy="187744"/>
              </a:xfrm>
              <a:prstGeom prst="rect">
                <a:avLst/>
              </a:prstGeom>
              <a:noFill/>
            </p:spPr>
            <p:txBody>
              <a:bodyPr wrap="none" lIns="18288" tIns="9144" rIns="18288" bIns="9144" anchor="ctr">
                <a:spAutoFit/>
              </a:bodyPr>
              <a:lstStyle/>
              <a:p>
                <a:pPr algn="ctr"/>
                <a:r>
                  <a:rPr lang="zh-CN" altLang="en-US" sz="1100" b="0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坐标统一</a:t>
                </a:r>
                <a:endParaRPr sz="11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9" name="Picture 28" descr="spatial_clip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1195" y="2007869"/>
                <a:ext cx="1180003" cy="566402"/>
              </a:xfrm>
              <a:prstGeom prst="rect">
                <a:avLst/>
              </a:prstGeom>
            </p:spPr>
          </p:pic>
          <p:sp>
            <p:nvSpPr>
              <p:cNvPr id="30" name="Rectangle 29"/>
              <p:cNvSpPr/>
              <p:nvPr/>
            </p:nvSpPr>
            <p:spPr>
              <a:xfrm>
                <a:off x="914400" y="2635613"/>
                <a:ext cx="438912" cy="182880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4D8E8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lang="zh-CN" altLang="en-US" sz="700" b="0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坐标统一</a:t>
                </a:r>
                <a:endParaRPr sz="7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1472184" y="2635613"/>
                <a:ext cx="438912" cy="182880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4D8E8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lang="zh-CN" altLang="en-US" sz="700" b="0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边界裁剪</a:t>
                </a:r>
                <a:endParaRPr sz="7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551176" y="1812653"/>
                <a:ext cx="1490472" cy="1078992"/>
              </a:xfrm>
              <a:prstGeom prst="rect">
                <a:avLst/>
              </a:prstGeom>
              <a:solidFill>
                <a:srgbClr val="FFFFFF"/>
              </a:solidFill>
              <a:ln w="8255">
                <a:solidFill>
                  <a:srgbClr val="4D8E88"/>
                </a:solidFill>
                <a:prstDash val="sysDot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endParaRPr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2925287" y="1842137"/>
                <a:ext cx="742254" cy="187744"/>
              </a:xfrm>
              <a:prstGeom prst="rect">
                <a:avLst/>
              </a:prstGeom>
              <a:noFill/>
            </p:spPr>
            <p:txBody>
              <a:bodyPr wrap="none" lIns="18288" tIns="9144" rIns="18288" bIns="9144" anchor="ctr">
                <a:spAutoFit/>
              </a:bodyPr>
              <a:lstStyle/>
              <a:p>
                <a:pPr algn="ctr"/>
                <a:r>
                  <a:rPr lang="zh-CN" altLang="en-US" sz="1100" b="0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参数场插值</a:t>
                </a:r>
                <a:endParaRPr sz="11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34" name="Picture 33" descr="hi_interp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23317" y="2007868"/>
                <a:ext cx="1117300" cy="596031"/>
              </a:xfrm>
              <a:prstGeom prst="rect">
                <a:avLst/>
              </a:prstGeom>
            </p:spPr>
          </p:pic>
          <p:sp>
            <p:nvSpPr>
              <p:cNvPr id="35" name="Rectangle 34"/>
              <p:cNvSpPr/>
              <p:nvPr/>
            </p:nvSpPr>
            <p:spPr>
              <a:xfrm>
                <a:off x="2798064" y="2635613"/>
                <a:ext cx="438912" cy="182880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4D8E8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lang="zh-CN" altLang="en-US" sz="700" b="0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插值计算</a:t>
                </a:r>
                <a:endParaRPr sz="7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3355847" y="2635613"/>
                <a:ext cx="438912" cy="182880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4D8E8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lang="zh-CN" altLang="en-US" sz="700" b="0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网格构建</a:t>
                </a:r>
                <a:endParaRPr sz="7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4434840" y="1812653"/>
                <a:ext cx="1490472" cy="1078992"/>
              </a:xfrm>
              <a:prstGeom prst="rect">
                <a:avLst/>
              </a:prstGeom>
              <a:solidFill>
                <a:srgbClr val="FFFFFF"/>
              </a:solidFill>
              <a:ln w="8255">
                <a:solidFill>
                  <a:srgbClr val="4D8E88"/>
                </a:solidFill>
                <a:prstDash val="sysDot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endParaRPr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4811576" y="1856010"/>
                <a:ext cx="711798" cy="187744"/>
              </a:xfrm>
              <a:prstGeom prst="rect">
                <a:avLst/>
              </a:prstGeom>
              <a:noFill/>
            </p:spPr>
            <p:txBody>
              <a:bodyPr wrap="none" lIns="18288" tIns="9144" rIns="18288" bIns="9144" anchor="ctr">
                <a:spAutoFit/>
              </a:bodyPr>
              <a:lstStyle/>
              <a:p>
                <a:pPr algn="ctr"/>
                <a:r>
                  <a:rPr sz="1100" dirty="0" err="1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ODI归一化</a:t>
                </a:r>
                <a:endParaRPr sz="110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39" name="Picture 38" descr="odi_norm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11568" y="2026701"/>
                <a:ext cx="1105556" cy="596031"/>
              </a:xfrm>
              <a:prstGeom prst="rect">
                <a:avLst/>
              </a:prstGeom>
            </p:spPr>
          </p:pic>
          <p:sp>
            <p:nvSpPr>
              <p:cNvPr id="40" name="Rectangle 39"/>
              <p:cNvSpPr/>
              <p:nvPr/>
            </p:nvSpPr>
            <p:spPr>
              <a:xfrm>
                <a:off x="4681727" y="2635613"/>
                <a:ext cx="438912" cy="182880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4D8E8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sz="700" b="0" dirty="0" err="1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归一化</a:t>
                </a:r>
                <a:endParaRPr sz="7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5239512" y="2635613"/>
                <a:ext cx="438912" cy="182880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4D8E8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sz="700" b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图层叠加</a:t>
                </a:r>
              </a:p>
            </p:txBody>
          </p:sp>
          <p:cxnSp>
            <p:nvCxnSpPr>
              <p:cNvPr id="42" name="Connector 41"/>
              <p:cNvCxnSpPr/>
              <p:nvPr/>
            </p:nvCxnSpPr>
            <p:spPr>
              <a:xfrm>
                <a:off x="2267712" y="2352149"/>
                <a:ext cx="219456" cy="0"/>
              </a:xfrm>
              <a:prstGeom prst="line">
                <a:avLst/>
              </a:prstGeom>
              <a:ln w="12700">
                <a:solidFill>
                  <a:srgbClr val="4D8E8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ctor 42"/>
              <p:cNvCxnSpPr/>
              <p:nvPr/>
            </p:nvCxnSpPr>
            <p:spPr>
              <a:xfrm>
                <a:off x="4151376" y="2352149"/>
                <a:ext cx="219455" cy="0"/>
              </a:xfrm>
              <a:prstGeom prst="line">
                <a:avLst/>
              </a:prstGeom>
              <a:ln w="12700">
                <a:solidFill>
                  <a:srgbClr val="4D8E8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0C0FAFE0-140A-E0F3-9676-4587CCE968AE}"/>
                </a:ext>
              </a:extLst>
            </p:cNvPr>
            <p:cNvGrpSpPr/>
            <p:nvPr/>
          </p:nvGrpSpPr>
          <p:grpSpPr>
            <a:xfrm>
              <a:off x="234497" y="3209544"/>
              <a:ext cx="6126480" cy="960121"/>
              <a:chOff x="234497" y="3209544"/>
              <a:chExt cx="6126480" cy="960121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34497" y="3431140"/>
                <a:ext cx="6126480" cy="738525"/>
              </a:xfrm>
              <a:prstGeom prst="rect">
                <a:avLst/>
              </a:prstGeom>
              <a:solidFill>
                <a:srgbClr val="FCFDFE"/>
              </a:solidFill>
              <a:ln w="12700">
                <a:solidFill>
                  <a:srgbClr val="B56B1D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endParaRPr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2627642" y="3209544"/>
                <a:ext cx="1306512" cy="187744"/>
              </a:xfrm>
              <a:prstGeom prst="rect">
                <a:avLst/>
              </a:prstGeom>
              <a:noFill/>
            </p:spPr>
            <p:txBody>
              <a:bodyPr wrap="none" lIns="18288" tIns="9144" rIns="18288" bIns="9144" anchor="ctr">
                <a:spAutoFit/>
              </a:bodyPr>
              <a:lstStyle/>
              <a:p>
                <a:pPr algn="ctr"/>
                <a:r>
                  <a:rPr sz="1100" b="0" dirty="0" err="1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图层输出与模型输入</a:t>
                </a:r>
                <a:endParaRPr sz="1100" b="0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44" name="Picture 43" descr="valid_domain.png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7377" y="3460714"/>
                <a:ext cx="749808" cy="393192"/>
              </a:xfrm>
              <a:prstGeom prst="rect">
                <a:avLst/>
              </a:prstGeom>
            </p:spPr>
          </p:pic>
          <p:sp>
            <p:nvSpPr>
              <p:cNvPr id="45" name="Rectangle 44"/>
              <p:cNvSpPr/>
              <p:nvPr/>
            </p:nvSpPr>
            <p:spPr>
              <a:xfrm>
                <a:off x="325937" y="3899626"/>
                <a:ext cx="932688" cy="210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B56B1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sz="800" b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有效布置域图层</a:t>
                </a:r>
              </a:p>
            </p:txBody>
          </p:sp>
          <p:pic>
            <p:nvPicPr>
              <p:cNvPr id="46" name="Picture 45" descr="coal_resource.png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88977" y="3460714"/>
                <a:ext cx="749808" cy="393192"/>
              </a:xfrm>
              <a:prstGeom prst="rect">
                <a:avLst/>
              </a:prstGeom>
            </p:spPr>
          </p:pic>
          <p:sp>
            <p:nvSpPr>
              <p:cNvPr id="47" name="Rectangle 46"/>
              <p:cNvSpPr/>
              <p:nvPr/>
            </p:nvSpPr>
            <p:spPr>
              <a:xfrm>
                <a:off x="1697536" y="3899626"/>
                <a:ext cx="932688" cy="210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B56B1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sz="800" b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煤厚资源图层</a:t>
                </a:r>
              </a:p>
            </p:txBody>
          </p:sp>
          <p:pic>
            <p:nvPicPr>
              <p:cNvPr id="48" name="Picture 47" descr="odi_layer.png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60577" y="3460714"/>
                <a:ext cx="749808" cy="393192"/>
              </a:xfrm>
              <a:prstGeom prst="rect">
                <a:avLst/>
              </a:prstGeom>
            </p:spPr>
          </p:pic>
          <p:sp>
            <p:nvSpPr>
              <p:cNvPr id="49" name="Rectangle 48"/>
              <p:cNvSpPr/>
              <p:nvPr/>
            </p:nvSpPr>
            <p:spPr>
              <a:xfrm>
                <a:off x="3069137" y="3899626"/>
                <a:ext cx="932688" cy="210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B56B1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sz="800" b="1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ODI扰动图层</a:t>
                </a:r>
              </a:p>
            </p:txBody>
          </p:sp>
          <p:pic>
            <p:nvPicPr>
              <p:cNvPr id="50" name="Picture 49" descr="candidate_layer.png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32177" y="3460714"/>
                <a:ext cx="749808" cy="393192"/>
              </a:xfrm>
              <a:prstGeom prst="rect">
                <a:avLst/>
              </a:prstGeom>
            </p:spPr>
          </p:pic>
          <p:sp>
            <p:nvSpPr>
              <p:cNvPr id="51" name="Rectangle 50"/>
              <p:cNvSpPr/>
              <p:nvPr/>
            </p:nvSpPr>
            <p:spPr>
              <a:xfrm>
                <a:off x="4440737" y="3899626"/>
                <a:ext cx="932688" cy="210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B56B1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sz="800" b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候选方案图层</a:t>
                </a:r>
              </a:p>
            </p:txBody>
          </p:sp>
          <p:cxnSp>
            <p:nvCxnSpPr>
              <p:cNvPr id="52" name="Connector 51"/>
              <p:cNvCxnSpPr/>
              <p:nvPr/>
            </p:nvCxnSpPr>
            <p:spPr>
              <a:xfrm>
                <a:off x="5470236" y="3777044"/>
                <a:ext cx="246888" cy="0"/>
              </a:xfrm>
              <a:prstGeom prst="line">
                <a:avLst/>
              </a:prstGeom>
              <a:ln w="12700">
                <a:solidFill>
                  <a:srgbClr val="B56B1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Rectangle 52"/>
              <p:cNvSpPr/>
              <p:nvPr/>
            </p:nvSpPr>
            <p:spPr>
              <a:xfrm>
                <a:off x="5846992" y="3581574"/>
                <a:ext cx="384048" cy="4572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B56B1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lang="zh-CN" altLang="en-US" sz="1100" b="1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模型输入</a:t>
                </a:r>
                <a:endParaRPr sz="1100" b="1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C0756213-87EE-7431-2781-D0941594760F}"/>
                </a:ext>
              </a:extLst>
            </p:cNvPr>
            <p:cNvGrpSpPr/>
            <p:nvPr/>
          </p:nvGrpSpPr>
          <p:grpSpPr>
            <a:xfrm>
              <a:off x="244438" y="4685655"/>
              <a:ext cx="6126480" cy="940084"/>
              <a:chOff x="244438" y="4685655"/>
              <a:chExt cx="6126480" cy="940084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44438" y="4685655"/>
                <a:ext cx="6126480" cy="940084"/>
              </a:xfrm>
              <a:prstGeom prst="rect">
                <a:avLst/>
              </a:prstGeom>
              <a:solidFill>
                <a:srgbClr val="FCFDFE"/>
              </a:solidFill>
              <a:ln w="12700">
                <a:solidFill>
                  <a:srgbClr val="A84A4A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endParaRPr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427318" y="5055364"/>
                <a:ext cx="640080" cy="2743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A84A4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lang="zh-CN" altLang="en-US" sz="900" b="1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方案生成</a:t>
                </a:r>
                <a:endParaRPr sz="900" b="1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5" name="Connector 54"/>
              <p:cNvCxnSpPr/>
              <p:nvPr/>
            </p:nvCxnSpPr>
            <p:spPr>
              <a:xfrm>
                <a:off x="1094830" y="5192524"/>
                <a:ext cx="164592" cy="0"/>
              </a:xfrm>
              <a:prstGeom prst="line">
                <a:avLst/>
              </a:prstGeom>
              <a:ln w="12700">
                <a:solidFill>
                  <a:srgbClr val="A84A4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Rectangle 55"/>
              <p:cNvSpPr/>
              <p:nvPr/>
            </p:nvSpPr>
            <p:spPr>
              <a:xfrm>
                <a:off x="1305142" y="5055364"/>
                <a:ext cx="640080" cy="2743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A84A4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lang="zh-CN" altLang="en-US" sz="900" b="1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约束筛选</a:t>
                </a:r>
                <a:endParaRPr sz="900" b="1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7" name="Connector 56"/>
              <p:cNvCxnSpPr/>
              <p:nvPr/>
            </p:nvCxnSpPr>
            <p:spPr>
              <a:xfrm>
                <a:off x="1972653" y="5192524"/>
                <a:ext cx="164593" cy="0"/>
              </a:xfrm>
              <a:prstGeom prst="line">
                <a:avLst/>
              </a:prstGeom>
              <a:ln w="12700">
                <a:solidFill>
                  <a:srgbClr val="A84A4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Rectangle 57"/>
              <p:cNvSpPr/>
              <p:nvPr/>
            </p:nvSpPr>
            <p:spPr>
              <a:xfrm>
                <a:off x="2182966" y="5055364"/>
                <a:ext cx="640080" cy="2743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A84A4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lang="zh-CN" altLang="en-US" sz="900" b="1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指标统计</a:t>
                </a:r>
                <a:endParaRPr sz="900" b="1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9" name="Connector 58"/>
              <p:cNvCxnSpPr/>
              <p:nvPr/>
            </p:nvCxnSpPr>
            <p:spPr>
              <a:xfrm>
                <a:off x="2850478" y="5192524"/>
                <a:ext cx="164592" cy="0"/>
              </a:xfrm>
              <a:prstGeom prst="line">
                <a:avLst/>
              </a:prstGeom>
              <a:ln w="12700">
                <a:solidFill>
                  <a:srgbClr val="A84A4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Rectangle 59"/>
              <p:cNvSpPr/>
              <p:nvPr/>
            </p:nvSpPr>
            <p:spPr>
              <a:xfrm>
                <a:off x="3060790" y="5055364"/>
                <a:ext cx="640080" cy="2743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A84A4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lang="zh-CN" altLang="en-US" sz="900" b="1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方案比选</a:t>
                </a:r>
                <a:endParaRPr sz="900" b="1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1" name="Picture 60" descr="stats.png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83750" y="4881628"/>
                <a:ext cx="1234440" cy="566928"/>
              </a:xfrm>
              <a:prstGeom prst="rect">
                <a:avLst/>
              </a:prstGeom>
            </p:spPr>
          </p:pic>
          <p:cxnSp>
            <p:nvCxnSpPr>
              <p:cNvPr id="62" name="Connector 61"/>
              <p:cNvCxnSpPr/>
              <p:nvPr/>
            </p:nvCxnSpPr>
            <p:spPr>
              <a:xfrm>
                <a:off x="5209630" y="5128516"/>
                <a:ext cx="237744" cy="0"/>
              </a:xfrm>
              <a:prstGeom prst="line">
                <a:avLst/>
              </a:prstGeom>
              <a:ln w="12700">
                <a:solidFill>
                  <a:srgbClr val="A84A4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Rectangle 62"/>
              <p:cNvSpPr/>
              <p:nvPr/>
            </p:nvSpPr>
            <p:spPr>
              <a:xfrm>
                <a:off x="5520526" y="4717036"/>
                <a:ext cx="640080" cy="164592"/>
              </a:xfrm>
              <a:prstGeom prst="rect">
                <a:avLst/>
              </a:prstGeom>
              <a:solidFill>
                <a:srgbClr val="DDEBFA"/>
              </a:solidFill>
              <a:ln w="6350">
                <a:solidFill>
                  <a:srgbClr val="A84A4A"/>
                </a:solidFill>
                <a:prstDash val="sysDot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sz="700" b="1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  </a:t>
                </a:r>
                <a:r>
                  <a:rPr sz="700" b="1" dirty="0" err="1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效率优先</a:t>
                </a:r>
                <a:endParaRPr sz="700" b="1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5520526" y="4945636"/>
                <a:ext cx="640080" cy="164592"/>
              </a:xfrm>
              <a:prstGeom prst="rect">
                <a:avLst/>
              </a:prstGeom>
              <a:solidFill>
                <a:srgbClr val="E5F0D9"/>
              </a:solidFill>
              <a:ln w="6350">
                <a:solidFill>
                  <a:srgbClr val="A84A4A"/>
                </a:solidFill>
                <a:prstDash val="sysDot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sz="700" b="1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  资源优先</a:t>
                </a: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5520526" y="5174236"/>
                <a:ext cx="640080" cy="164592"/>
              </a:xfrm>
              <a:prstGeom prst="rect">
                <a:avLst/>
              </a:prstGeom>
              <a:solidFill>
                <a:srgbClr val="FFF0D5"/>
              </a:solidFill>
              <a:ln w="6350">
                <a:solidFill>
                  <a:srgbClr val="A84A4A"/>
                </a:solidFill>
                <a:prstDash val="sysDot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sz="700" b="1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  </a:t>
                </a:r>
                <a:r>
                  <a:rPr sz="700" b="1" dirty="0" err="1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低扰动</a:t>
                </a:r>
                <a:endParaRPr sz="700" b="1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5520526" y="5402836"/>
                <a:ext cx="640080" cy="164592"/>
              </a:xfrm>
              <a:prstGeom prst="rect">
                <a:avLst/>
              </a:prstGeom>
              <a:solidFill>
                <a:srgbClr val="F2DCDC"/>
              </a:solidFill>
              <a:ln w="6350">
                <a:solidFill>
                  <a:srgbClr val="A84A4A"/>
                </a:solidFill>
                <a:prstDash val="sysDot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8288" tIns="9144" rIns="18288" bIns="9144" rtlCol="0" anchor="ctr"/>
              <a:lstStyle/>
              <a:p>
                <a:pPr algn="ctr"/>
                <a:r>
                  <a:rPr sz="700" b="1" dirty="0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  </a:t>
                </a:r>
                <a:r>
                  <a:rPr sz="700" b="1" dirty="0" err="1">
                    <a:solidFill>
                      <a:srgbClr val="1F2933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不推荐</a:t>
                </a:r>
                <a:endParaRPr sz="700" b="1" dirty="0">
                  <a:solidFill>
                    <a:srgbClr val="1F29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67" name="TextBox 66"/>
          <p:cNvSpPr txBox="1"/>
          <p:nvPr/>
        </p:nvSpPr>
        <p:spPr>
          <a:xfrm>
            <a:off x="1163874" y="6593738"/>
            <a:ext cx="4235197" cy="126188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700" b="0">
                <a:solidFill>
                  <a:srgbClr val="7F8A9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注：缩略图由采区边界、钻孔坐标、钻孔分层、ODI评价点与方案统计数据生成；比例尺仅用于流程说明。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79</Words>
  <Application>Microsoft Office PowerPoint</Application>
  <PresentationFormat>自定义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d63431</cp:lastModifiedBy>
  <cp:revision>2</cp:revision>
  <dcterms:created xsi:type="dcterms:W3CDTF">2013-01-27T09:14:16Z</dcterms:created>
  <dcterms:modified xsi:type="dcterms:W3CDTF">2026-05-18T08:52:13Z</dcterms:modified>
  <cp:category/>
</cp:coreProperties>
</file>